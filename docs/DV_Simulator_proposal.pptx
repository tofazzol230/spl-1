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61" r:id="rId5"/>
    <p:sldId id="259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3" autoAdjust="0"/>
    <p:restoredTop sz="74172" autoAdjust="0"/>
  </p:normalViewPr>
  <p:slideViewPr>
    <p:cSldViewPr snapToGrid="0" snapToObjects="1">
      <p:cViewPr varScale="1">
        <p:scale>
          <a:sx n="96" d="100"/>
          <a:sy n="96" d="100"/>
        </p:scale>
        <p:origin x="10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1721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everyone.</a:t>
            </a:r>
          </a:p>
          <a:p>
            <a:r>
              <a:rPr lang="en-US" dirty="0"/>
              <a:t>Today I’m going to present our project, </a:t>
            </a:r>
            <a:r>
              <a:rPr lang="en-US" b="1" dirty="0"/>
              <a:t>“Distance Vector Routing Simulator.”</a:t>
            </a:r>
            <a:endParaRPr lang="en-US" dirty="0"/>
          </a:p>
          <a:p>
            <a:r>
              <a:rPr lang="en-US" dirty="0"/>
              <a:t>The main purpose of this project is to create an interactive simulator that shows how routers find the shortest path using the Distance Vector algorithm.</a:t>
            </a:r>
          </a:p>
          <a:p>
            <a:r>
              <a:rPr lang="en-US" dirty="0"/>
              <a:t>Instead of only seeing the final routing table, users can see the routing process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problem is that Distance Vector routing is usually taught using static routing tables.</a:t>
            </a:r>
          </a:p>
          <a:p>
            <a:r>
              <a:rPr lang="en-US" dirty="0"/>
              <a:t>Students can see the final result, but they cannot easily see how routers actually converge or what happens when a link fails.</a:t>
            </a:r>
          </a:p>
          <a:p>
            <a:r>
              <a:rPr lang="en-US" dirty="0"/>
              <a:t>Problems like </a:t>
            </a:r>
            <a:r>
              <a:rPr lang="en-US" b="1" dirty="0"/>
              <a:t>routing loops and count-to-infinity</a:t>
            </a:r>
            <a:r>
              <a:rPr lang="en-US" dirty="0"/>
              <a:t> are also difficult to understand from textbooks alone.</a:t>
            </a:r>
          </a:p>
          <a:p>
            <a:r>
              <a:rPr lang="en-US" dirty="0"/>
              <a:t>So, our goal is to make these processes visible and interactive.</a:t>
            </a:r>
          </a:p>
          <a:p>
            <a:r>
              <a:rPr lang="en-US" dirty="0"/>
              <a:t>The simulator will allow students to observe convergence, failures, loops, and loop-prevention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system has two main parts.</a:t>
            </a:r>
          </a:p>
          <a:p>
            <a:r>
              <a:rPr lang="en-US" dirty="0"/>
              <a:t>First, we have a </a:t>
            </a:r>
            <a:r>
              <a:rPr lang="en-US" b="1" dirty="0"/>
              <a:t>C++ core engine</a:t>
            </a:r>
            <a:r>
              <a:rPr lang="en-US" dirty="0"/>
              <a:t>, which performs the routing simulation.</a:t>
            </a:r>
          </a:p>
          <a:p>
            <a:r>
              <a:rPr lang="en-US" dirty="0"/>
              <a:t>Second, we have a </a:t>
            </a:r>
            <a:r>
              <a:rPr lang="en-US" b="1" dirty="0"/>
              <a:t>Java Swing GUI</a:t>
            </a:r>
            <a:r>
              <a:rPr lang="en-US" dirty="0"/>
              <a:t>, which allows users to interact with the simulator.</a:t>
            </a:r>
          </a:p>
          <a:p>
            <a:r>
              <a:rPr lang="en-US" dirty="0"/>
              <a:t>Users can create network topologies, add routers and links, change link costs, and observe routing tables and messages.</a:t>
            </a:r>
          </a:p>
          <a:p>
            <a:r>
              <a:rPr lang="en-US" dirty="0"/>
              <a:t>The simulator supports </a:t>
            </a:r>
            <a:r>
              <a:rPr lang="en-US" b="1" dirty="0"/>
              <a:t>Distance Vector with Bellman-Ford</a:t>
            </a:r>
            <a:r>
              <a:rPr lang="en-US" dirty="0"/>
              <a:t>, along with techniques like Split Horizon and Poison Reverse.</a:t>
            </a:r>
          </a:p>
          <a:p>
            <a:r>
              <a:rPr lang="en-US" dirty="0"/>
              <a:t>It also supports </a:t>
            </a:r>
            <a:r>
              <a:rPr lang="en-US" b="1" dirty="0"/>
              <a:t>Link State using Dijkstra's algorithm</a:t>
            </a:r>
            <a:r>
              <a:rPr lang="en-US" dirty="0"/>
              <a:t> for comparison.</a:t>
            </a:r>
          </a:p>
          <a:p>
            <a:r>
              <a:rPr lang="en-US" dirty="0"/>
              <a:t>C++ and Java communicate using </a:t>
            </a:r>
            <a:r>
              <a:rPr lang="en-US" b="1" dirty="0"/>
              <a:t>JSON and IPC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compare two routing approaches.</a:t>
            </a:r>
          </a:p>
          <a:p>
            <a:r>
              <a:rPr lang="en-US" dirty="0"/>
              <a:t>In </a:t>
            </a:r>
            <a:r>
              <a:rPr lang="en-US" b="1" dirty="0"/>
              <a:t>Distance Vector</a:t>
            </a:r>
            <a:r>
              <a:rPr lang="en-US" dirty="0"/>
              <a:t>, each router mainly knows information from its </a:t>
            </a:r>
            <a:r>
              <a:rPr lang="en-US" dirty="0" err="1"/>
              <a:t>neighbouring</a:t>
            </a:r>
            <a:r>
              <a:rPr lang="en-US" dirty="0"/>
              <a:t> routers. It uses the Bellman-Ford approach to find the minimum-cost path.</a:t>
            </a:r>
          </a:p>
          <a:p>
            <a:r>
              <a:rPr lang="en-US" dirty="0"/>
              <a:t>Because routers have limited information, problems like routing loops and count-to-infinity can occur.</a:t>
            </a:r>
          </a:p>
          <a:p>
            <a:r>
              <a:rPr lang="en-US" dirty="0"/>
              <a:t>On the other hand, </a:t>
            </a:r>
            <a:r>
              <a:rPr lang="en-US" b="1" dirty="0"/>
              <a:t>Link State</a:t>
            </a:r>
            <a:r>
              <a:rPr lang="en-US" dirty="0"/>
              <a:t> uses Dijkstra's algorithm. Here, routers have the complete topology information and calculate the shortest path from that information.</a:t>
            </a:r>
          </a:p>
          <a:p>
            <a:r>
              <a:rPr lang="en-US" dirty="0"/>
              <a:t>Our simulator will allow us to observe the difference between these two approaches using the same network and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D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main target users are </a:t>
            </a:r>
            <a:r>
              <a:rPr lang="en-US" b="1" dirty="0"/>
              <a:t>networking students, course instructors, and self-learners</a:t>
            </a:r>
            <a:r>
              <a:rPr lang="en-US" dirty="0"/>
              <a:t>.</a:t>
            </a:r>
          </a:p>
          <a:p>
            <a:r>
              <a:rPr lang="en-US" dirty="0"/>
              <a:t>Students can use it to understand routing protocols practically, while instructors can use it for classroom demonstrations.</a:t>
            </a:r>
          </a:p>
          <a:p>
            <a:r>
              <a:rPr lang="en-US" dirty="0"/>
              <a:t>For technology, we are using </a:t>
            </a:r>
            <a:r>
              <a:rPr lang="en-US" b="1" dirty="0"/>
              <a:t>C++ for the simulation core</a:t>
            </a:r>
            <a:r>
              <a:rPr lang="en-US" dirty="0"/>
              <a:t>, </a:t>
            </a:r>
            <a:r>
              <a:rPr lang="en-US" b="1" dirty="0"/>
              <a:t>Java Swing for the GUI</a:t>
            </a:r>
            <a:r>
              <a:rPr lang="en-US" dirty="0"/>
              <a:t>, and </a:t>
            </a:r>
            <a:r>
              <a:rPr lang="en-US" b="1" dirty="0"/>
              <a:t>JSON/IPC for communication</a:t>
            </a:r>
            <a:r>
              <a:rPr lang="en-US" dirty="0"/>
              <a:t>.</a:t>
            </a:r>
          </a:p>
          <a:p>
            <a:r>
              <a:rPr lang="en-US" dirty="0"/>
              <a:t>We are also using Git and GitHub for version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Finally, our expected outcome is a </a:t>
            </a:r>
            <a:r>
              <a:rPr lang="en-US" b="1" dirty="0"/>
              <a:t>complete and working routing simulator</a:t>
            </a:r>
            <a:r>
              <a:rPr lang="en-US" dirty="0"/>
              <a:t>.</a:t>
            </a:r>
          </a:p>
          <a:p>
            <a:r>
              <a:rPr lang="en-US" dirty="0"/>
              <a:t>It will demonstrate convergence, link failures, routing loops, and loop-prevention techniques.</a:t>
            </a:r>
          </a:p>
          <a:p>
            <a:r>
              <a:rPr lang="en-US" dirty="0"/>
              <a:t>We also want to provide a direct comparison between </a:t>
            </a:r>
            <a:r>
              <a:rPr lang="en-US" b="1" dirty="0"/>
              <a:t>Distance Vector and Link State</a:t>
            </a:r>
            <a:r>
              <a:rPr lang="en-US" dirty="0"/>
              <a:t> on the same topology.</a:t>
            </a:r>
          </a:p>
          <a:p>
            <a:r>
              <a:rPr lang="en-US" dirty="0"/>
              <a:t>If time allows, we also plan to package it as a standalone desktop application.</a:t>
            </a:r>
          </a:p>
          <a:p>
            <a:r>
              <a:rPr lang="en-US" dirty="0"/>
              <a:t>That’s all from my side.</a:t>
            </a:r>
          </a:p>
          <a:p>
            <a:r>
              <a:rPr lang="en-US" b="1" dirty="0"/>
              <a:t>Thank you everyone for listening. I’m happy to take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10972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Vector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Simulator</a:t>
            </a:r>
            <a:endParaRPr lang="en-US" sz="3400" dirty="0"/>
          </a:p>
        </p:txBody>
      </p:sp>
      <p:sp>
        <p:nvSpPr>
          <p:cNvPr id="4" name="sub"/>
          <p:cNvSpPr txBox="1"/>
          <p:nvPr/>
        </p:nvSpPr>
        <p:spPr>
          <a:xfrm>
            <a:off x="548640" y="2651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9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interactive, GUI-based tool for learning how routers find shortest paths.</a:t>
            </a:r>
            <a:endParaRPr lang="en-US" sz="1500" dirty="0"/>
          </a:p>
        </p:txBody>
      </p:sp>
      <p:sp>
        <p:nvSpPr>
          <p:cNvPr id="5" name="author"/>
          <p:cNvSpPr txBox="1"/>
          <p:nvPr/>
        </p:nvSpPr>
        <p:spPr>
          <a:xfrm>
            <a:off x="548640" y="37490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Tofazzol Alam Rahat  |  Roll 1740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9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Md. Shariful Islam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9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Information Technology, University of Dhaka</a:t>
            </a:r>
            <a:endParaRPr lang="en-US" sz="1300" dirty="0"/>
          </a:p>
        </p:txBody>
      </p:sp>
      <p:sp>
        <p:nvSpPr>
          <p:cNvPr id="6" name="lk0"/>
          <p:cNvSpPr/>
          <p:nvPr/>
        </p:nvSpPr>
        <p:spPr>
          <a:xfrm flipV="1">
            <a:off x="5669280" y="914400"/>
            <a:ext cx="1371600" cy="914400"/>
          </a:xfrm>
          <a:prstGeom prst="line">
            <a:avLst/>
          </a:prstGeom>
          <a:noFill/>
          <a:ln w="28575">
            <a:solidFill>
              <a:srgbClr val="3C6E80"/>
            </a:solidFill>
            <a:prstDash val="solid"/>
          </a:ln>
        </p:spPr>
      </p:sp>
      <p:sp>
        <p:nvSpPr>
          <p:cNvPr id="7" name="lk1"/>
          <p:cNvSpPr/>
          <p:nvPr/>
        </p:nvSpPr>
        <p:spPr>
          <a:xfrm>
            <a:off x="7040880" y="914400"/>
            <a:ext cx="1188720" cy="1097280"/>
          </a:xfrm>
          <a:prstGeom prst="line">
            <a:avLst/>
          </a:prstGeom>
          <a:noFill/>
          <a:ln w="28575">
            <a:solidFill>
              <a:srgbClr val="3C6E80"/>
            </a:solidFill>
            <a:prstDash val="solid"/>
          </a:ln>
        </p:spPr>
      </p:sp>
      <p:sp>
        <p:nvSpPr>
          <p:cNvPr id="8" name="lk2"/>
          <p:cNvSpPr/>
          <p:nvPr/>
        </p:nvSpPr>
        <p:spPr>
          <a:xfrm>
            <a:off x="5669280" y="1828800"/>
            <a:ext cx="731520" cy="1371600"/>
          </a:xfrm>
          <a:prstGeom prst="line">
            <a:avLst/>
          </a:prstGeom>
          <a:noFill/>
          <a:ln w="28575">
            <a:solidFill>
              <a:srgbClr val="3C6E80"/>
            </a:solidFill>
            <a:prstDash val="solid"/>
          </a:ln>
        </p:spPr>
      </p:sp>
      <p:sp>
        <p:nvSpPr>
          <p:cNvPr id="9" name="lk3"/>
          <p:cNvSpPr/>
          <p:nvPr/>
        </p:nvSpPr>
        <p:spPr>
          <a:xfrm flipV="1">
            <a:off x="6400800" y="914400"/>
            <a:ext cx="640080" cy="2286000"/>
          </a:xfrm>
          <a:prstGeom prst="line">
            <a:avLst/>
          </a:prstGeom>
          <a:noFill/>
          <a:ln w="28575">
            <a:solidFill>
              <a:srgbClr val="3C6E80"/>
            </a:solidFill>
            <a:prstDash val="solid"/>
          </a:ln>
        </p:spPr>
      </p:sp>
      <p:sp>
        <p:nvSpPr>
          <p:cNvPr id="10" name="lk4"/>
          <p:cNvSpPr/>
          <p:nvPr/>
        </p:nvSpPr>
        <p:spPr>
          <a:xfrm>
            <a:off x="6400800" y="3200400"/>
            <a:ext cx="1554480" cy="548640"/>
          </a:xfrm>
          <a:prstGeom prst="line">
            <a:avLst/>
          </a:prstGeom>
          <a:noFill/>
          <a:ln w="28575">
            <a:solidFill>
              <a:srgbClr val="3C6E80"/>
            </a:solidFill>
            <a:prstDash val="solid"/>
          </a:ln>
        </p:spPr>
      </p:sp>
      <p:sp>
        <p:nvSpPr>
          <p:cNvPr id="11" name="lk5"/>
          <p:cNvSpPr/>
          <p:nvPr/>
        </p:nvSpPr>
        <p:spPr>
          <a:xfrm flipV="1">
            <a:off x="7955280" y="2011680"/>
            <a:ext cx="274320" cy="1737360"/>
          </a:xfrm>
          <a:prstGeom prst="line">
            <a:avLst/>
          </a:prstGeom>
          <a:noFill/>
          <a:ln w="28575">
            <a:solidFill>
              <a:srgbClr val="3C6E80"/>
            </a:solidFill>
            <a:prstDash val="solid"/>
          </a:ln>
        </p:spPr>
      </p:sp>
      <p:sp>
        <p:nvSpPr>
          <p:cNvPr id="12" name="cl0"/>
          <p:cNvSpPr txBox="1"/>
          <p:nvPr/>
        </p:nvSpPr>
        <p:spPr>
          <a:xfrm>
            <a:off x="6199632" y="1243584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0B2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cl1"/>
          <p:cNvSpPr txBox="1"/>
          <p:nvPr/>
        </p:nvSpPr>
        <p:spPr>
          <a:xfrm>
            <a:off x="7479792" y="1335024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0B2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cl2"/>
          <p:cNvSpPr txBox="1"/>
          <p:nvPr/>
        </p:nvSpPr>
        <p:spPr>
          <a:xfrm>
            <a:off x="5879592" y="2386584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0B2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cl3"/>
          <p:cNvSpPr txBox="1"/>
          <p:nvPr/>
        </p:nvSpPr>
        <p:spPr>
          <a:xfrm>
            <a:off x="6565392" y="1929384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0B2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cl4"/>
          <p:cNvSpPr txBox="1"/>
          <p:nvPr/>
        </p:nvSpPr>
        <p:spPr>
          <a:xfrm>
            <a:off x="7022592" y="3346704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0B2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cl5"/>
          <p:cNvSpPr txBox="1"/>
          <p:nvPr/>
        </p:nvSpPr>
        <p:spPr>
          <a:xfrm>
            <a:off x="7936992" y="2752344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0B2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pk1"/>
          <p:cNvSpPr/>
          <p:nvPr/>
        </p:nvSpPr>
        <p:spPr>
          <a:xfrm>
            <a:off x="5586984" y="1746504"/>
            <a:ext cx="164592" cy="164592"/>
          </a:xfrm>
          <a:prstGeom prst="ellipse">
            <a:avLst/>
          </a:prstGeom>
          <a:solidFill>
            <a:srgbClr val="3DDC9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k2"/>
          <p:cNvSpPr/>
          <p:nvPr/>
        </p:nvSpPr>
        <p:spPr>
          <a:xfrm>
            <a:off x="6958584" y="832104"/>
            <a:ext cx="164592" cy="164592"/>
          </a:xfrm>
          <a:prstGeom prst="ellipse">
            <a:avLst/>
          </a:prstGeom>
          <a:solidFill>
            <a:srgbClr val="3DDC9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k3"/>
          <p:cNvSpPr/>
          <p:nvPr/>
        </p:nvSpPr>
        <p:spPr>
          <a:xfrm>
            <a:off x="6318504" y="3118104"/>
            <a:ext cx="164592" cy="164592"/>
          </a:xfrm>
          <a:prstGeom prst="ellipse">
            <a:avLst/>
          </a:prstGeom>
          <a:solidFill>
            <a:srgbClr val="3DDC9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k4"/>
          <p:cNvSpPr/>
          <p:nvPr/>
        </p:nvSpPr>
        <p:spPr>
          <a:xfrm>
            <a:off x="5586984" y="1746504"/>
            <a:ext cx="164592" cy="164592"/>
          </a:xfrm>
          <a:prstGeom prst="ellipse">
            <a:avLst/>
          </a:prstGeom>
          <a:solidFill>
            <a:srgbClr val="3DDC9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nA"/>
          <p:cNvSpPr txBox="1"/>
          <p:nvPr/>
        </p:nvSpPr>
        <p:spPr>
          <a:xfrm>
            <a:off x="5385816" y="1545336"/>
            <a:ext cx="566928" cy="566928"/>
          </a:xfrm>
          <a:prstGeom prst="ellipse">
            <a:avLst/>
          </a:prstGeom>
          <a:solidFill>
            <a:srgbClr val="123847"/>
          </a:solidFill>
          <a:ln w="25400">
            <a:solidFill>
              <a:srgbClr val="3DDC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23" name="nB"/>
          <p:cNvSpPr txBox="1"/>
          <p:nvPr/>
        </p:nvSpPr>
        <p:spPr>
          <a:xfrm>
            <a:off x="6757416" y="630936"/>
            <a:ext cx="566928" cy="566928"/>
          </a:xfrm>
          <a:prstGeom prst="ellipse">
            <a:avLst/>
          </a:prstGeom>
          <a:solidFill>
            <a:srgbClr val="123847"/>
          </a:solidFill>
          <a:ln w="25400">
            <a:solidFill>
              <a:srgbClr val="3DDC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24" name="nC"/>
          <p:cNvSpPr txBox="1"/>
          <p:nvPr/>
        </p:nvSpPr>
        <p:spPr>
          <a:xfrm>
            <a:off x="7946136" y="1728216"/>
            <a:ext cx="566928" cy="566928"/>
          </a:xfrm>
          <a:prstGeom prst="ellipse">
            <a:avLst/>
          </a:prstGeom>
          <a:solidFill>
            <a:srgbClr val="123847"/>
          </a:solidFill>
          <a:ln w="25400">
            <a:solidFill>
              <a:srgbClr val="3DDC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25" name="nD"/>
          <p:cNvSpPr txBox="1"/>
          <p:nvPr/>
        </p:nvSpPr>
        <p:spPr>
          <a:xfrm>
            <a:off x="6117336" y="2916936"/>
            <a:ext cx="566928" cy="566928"/>
          </a:xfrm>
          <a:prstGeom prst="ellipse">
            <a:avLst/>
          </a:prstGeom>
          <a:solidFill>
            <a:srgbClr val="123847"/>
          </a:solidFill>
          <a:ln w="25400">
            <a:solidFill>
              <a:srgbClr val="3DDC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6" name="nE"/>
          <p:cNvSpPr txBox="1"/>
          <p:nvPr/>
        </p:nvSpPr>
        <p:spPr>
          <a:xfrm>
            <a:off x="7671816" y="3465576"/>
            <a:ext cx="566928" cy="566928"/>
          </a:xfrm>
          <a:prstGeom prst="ellipse">
            <a:avLst/>
          </a:prstGeom>
          <a:solidFill>
            <a:srgbClr val="123847"/>
          </a:solidFill>
          <a:ln w="25400">
            <a:solidFill>
              <a:srgbClr val="3DDC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0" presetClass="path" presetSubtype="0" accel="50000" decel="5000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 L 0.15000 -0.17778 E" pathEditMode="relative" rAng="0" ptsTypes="AA">
                                      <p:cBhvr>
                                        <p:cTn id="79" dur="1800" repeatCount="indefinite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0" presetClass="path" presetSubtype="0" accel="50000" decel="5000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 0 L 0.13000 0.21333 E" pathEditMode="relative" rAng="0" ptsTypes="AA">
                                      <p:cBhvr>
                                        <p:cTn id="83" dur="1800" repeatCount="indefinite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0" presetClass="path" presetSubtype="0" accel="50000" decel="5000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0.17000 0.10667 E" pathEditMode="relative" rAng="0" ptsTypes="AA">
                                      <p:cBhvr>
                                        <p:cTn id="87" dur="1800" repeatCount="indefinite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0" presetClass="path" presetSubtype="0" accel="50000" decel="5000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animMotion origin="layout" path="M 0 0 L 0.08000 0.26667 E" pathEditMode="relative" rAng="0" ptsTypes="AA">
                                      <p:cBhvr>
                                        <p:cTn id="91" dur="1800" repeatCount="indefinite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3000" dirty="0"/>
          </a:p>
        </p:txBody>
      </p:sp>
      <p:sp>
        <p:nvSpPr>
          <p:cNvPr id="3" name="sub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protocols are taught from static tables — but they are dynamic processes.</a:t>
            </a:r>
            <a:endParaRPr lang="en-US" sz="1350" dirty="0"/>
          </a:p>
        </p:txBody>
      </p:sp>
      <p:sp>
        <p:nvSpPr>
          <p:cNvPr id="4" name="probLbl"/>
          <p:cNvSpPr txBox="1"/>
          <p:nvPr/>
        </p:nvSpPr>
        <p:spPr>
          <a:xfrm>
            <a:off x="457200" y="1417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motLbl"/>
          <p:cNvSpPr txBox="1"/>
          <p:nvPr/>
        </p:nvSpPr>
        <p:spPr>
          <a:xfrm>
            <a:off x="457200" y="3246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</a:t>
            </a:r>
            <a:endParaRPr lang="en-US" sz="1100" dirty="0"/>
          </a:p>
        </p:txBody>
      </p:sp>
      <p:sp>
        <p:nvSpPr>
          <p:cNvPr id="8" name="panel"/>
          <p:cNvSpPr/>
          <p:nvPr/>
        </p:nvSpPr>
        <p:spPr>
          <a:xfrm>
            <a:off x="4709160" y="137160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0B2530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panelLbl"/>
          <p:cNvSpPr txBox="1"/>
          <p:nvPr/>
        </p:nvSpPr>
        <p:spPr>
          <a:xfrm>
            <a:off x="4937760" y="15361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FAILS IN A TEXTBOOK</a:t>
            </a:r>
            <a:endParaRPr lang="en-US" sz="1050" dirty="0"/>
          </a:p>
        </p:txBody>
      </p:sp>
      <p:sp>
        <p:nvSpPr>
          <p:cNvPr id="10" name="lkAB"/>
          <p:cNvSpPr/>
          <p:nvPr/>
        </p:nvSpPr>
        <p:spPr>
          <a:xfrm flipV="1">
            <a:off x="5577840" y="1965960"/>
            <a:ext cx="1143000" cy="365760"/>
          </a:xfrm>
          <a:prstGeom prst="line">
            <a:avLst/>
          </a:prstGeom>
          <a:noFill/>
          <a:ln w="25400">
            <a:solidFill>
              <a:srgbClr val="3C6E80"/>
            </a:solidFill>
            <a:prstDash val="solid"/>
          </a:ln>
        </p:spPr>
      </p:sp>
      <p:sp>
        <p:nvSpPr>
          <p:cNvPr id="11" name="lkBC"/>
          <p:cNvSpPr/>
          <p:nvPr/>
        </p:nvSpPr>
        <p:spPr>
          <a:xfrm>
            <a:off x="6720840" y="1965960"/>
            <a:ext cx="1143000" cy="548640"/>
          </a:xfrm>
          <a:prstGeom prst="line">
            <a:avLst/>
          </a:prstGeom>
          <a:noFill/>
          <a:ln w="31750">
            <a:solidFill>
              <a:srgbClr val="D6333A"/>
            </a:solidFill>
            <a:prstDash val="solid"/>
          </a:ln>
        </p:spPr>
      </p:sp>
      <p:sp>
        <p:nvSpPr>
          <p:cNvPr id="12" name="pnA"/>
          <p:cNvSpPr txBox="1"/>
          <p:nvPr/>
        </p:nvSpPr>
        <p:spPr>
          <a:xfrm>
            <a:off x="5349240" y="2103120"/>
            <a:ext cx="457200" cy="457200"/>
          </a:xfrm>
          <a:prstGeom prst="ellipse">
            <a:avLst/>
          </a:prstGeom>
          <a:solidFill>
            <a:srgbClr val="123847"/>
          </a:solidFill>
          <a:ln w="25400">
            <a:solidFill>
              <a:srgbClr val="3DDC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pnB"/>
          <p:cNvSpPr txBox="1"/>
          <p:nvPr/>
        </p:nvSpPr>
        <p:spPr>
          <a:xfrm>
            <a:off x="6492240" y="1737360"/>
            <a:ext cx="457200" cy="457200"/>
          </a:xfrm>
          <a:prstGeom prst="ellipse">
            <a:avLst/>
          </a:prstGeom>
          <a:solidFill>
            <a:srgbClr val="123847"/>
          </a:solidFill>
          <a:ln w="25400">
            <a:solidFill>
              <a:srgbClr val="3DDC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pnC"/>
          <p:cNvSpPr txBox="1"/>
          <p:nvPr/>
        </p:nvSpPr>
        <p:spPr>
          <a:xfrm>
            <a:off x="7635240" y="2286000"/>
            <a:ext cx="457200" cy="457200"/>
          </a:xfrm>
          <a:prstGeom prst="ellipse">
            <a:avLst/>
          </a:prstGeom>
          <a:solidFill>
            <a:srgbClr val="123847"/>
          </a:solidFill>
          <a:ln w="25400">
            <a:solidFill>
              <a:srgbClr val="3DDC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pnX"/>
          <p:cNvSpPr txBox="1"/>
          <p:nvPr/>
        </p:nvSpPr>
        <p:spPr>
          <a:xfrm>
            <a:off x="7086600" y="2084832"/>
            <a:ext cx="310896" cy="310896"/>
          </a:xfrm>
          <a:prstGeom prst="ellipse">
            <a:avLst/>
          </a:prstGeom>
          <a:solidFill>
            <a:srgbClr val="D633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6" name="panelBody"/>
          <p:cNvSpPr txBox="1"/>
          <p:nvPr/>
        </p:nvSpPr>
        <p:spPr>
          <a:xfrm>
            <a:off x="4937760" y="306324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9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diagram can only show one snapshot. It cannot show a link failing, costs climbing round after round, or a loop-prevention rule stepping in to stop it — the exact moments where real understanding happens.</a:t>
            </a:r>
            <a:endParaRPr lang="en-US" sz="1200" dirty="0"/>
          </a:p>
        </p:txBody>
      </p:sp>
      <p:sp>
        <p:nvSpPr>
          <p:cNvPr id="17" name="panelGoal"/>
          <p:cNvSpPr txBox="1"/>
          <p:nvPr/>
        </p:nvSpPr>
        <p:spPr>
          <a:xfrm>
            <a:off x="4937760" y="4160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one of those moments visible and interactive.</a:t>
            </a:r>
            <a:endParaRPr lang="en-US" sz="12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C842B3-98F7-4587-A66B-4090823FB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751" y="1462853"/>
            <a:ext cx="1654166" cy="15249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AE8025-06CE-47FA-9327-887BACDC7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6374" y="3374136"/>
            <a:ext cx="1462919" cy="14629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A2BCF3-0A27-41EA-A5C2-6F2CC4337BE1}"/>
              </a:ext>
            </a:extLst>
          </p:cNvPr>
          <p:cNvSpPr txBox="1"/>
          <p:nvPr/>
        </p:nvSpPr>
        <p:spPr>
          <a:xfrm>
            <a:off x="8686800" y="1860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EF12C07-92BB-48A2-9596-814A28D484A3}"/>
              </a:ext>
            </a:extLst>
          </p:cNvPr>
          <p:cNvSpPr txBox="1"/>
          <p:nvPr/>
        </p:nvSpPr>
        <p:spPr>
          <a:xfrm>
            <a:off x="457200" y="11505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 one interface</a:t>
            </a:r>
            <a:endParaRPr lang="en-US" dirty="0"/>
          </a:p>
        </p:txBody>
      </p:sp>
      <p:sp>
        <p:nvSpPr>
          <p:cNvPr id="3" name="sub">
            <a:extLst>
              <a:ext uri="{FF2B5EF4-FFF2-40B4-BE49-F238E27FC236}">
                <a16:creationId xmlns:a16="http://schemas.microsoft.com/office/drawing/2014/main" id="{EE0AF565-8C6F-4783-8FCB-625E1782DB0F}"/>
              </a:ext>
            </a:extLst>
          </p:cNvPr>
          <p:cNvSpPr txBox="1"/>
          <p:nvPr/>
        </p:nvSpPr>
        <p:spPr>
          <a:xfrm>
            <a:off x="2659380" y="4509516"/>
            <a:ext cx="4049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does the routing. Java Swing shows it live.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guiCard">
            <a:extLst>
              <a:ext uri="{FF2B5EF4-FFF2-40B4-BE49-F238E27FC236}">
                <a16:creationId xmlns:a16="http://schemas.microsoft.com/office/drawing/2014/main" id="{1A236462-F5DF-403B-845C-C2D0C89B1687}"/>
              </a:ext>
            </a:extLst>
          </p:cNvPr>
          <p:cNvSpPr/>
          <p:nvPr/>
        </p:nvSpPr>
        <p:spPr>
          <a:xfrm>
            <a:off x="457200" y="1684020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123847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5" name="guiHead">
            <a:extLst>
              <a:ext uri="{FF2B5EF4-FFF2-40B4-BE49-F238E27FC236}">
                <a16:creationId xmlns:a16="http://schemas.microsoft.com/office/drawing/2014/main" id="{BCA5144F-E162-413C-BA39-59EAB60E928E}"/>
              </a:ext>
            </a:extLst>
          </p:cNvPr>
          <p:cNvSpPr txBox="1"/>
          <p:nvPr/>
        </p:nvSpPr>
        <p:spPr>
          <a:xfrm>
            <a:off x="685800" y="18211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Swing GUI</a:t>
            </a:r>
            <a:endParaRPr lang="en-US" sz="1700" dirty="0"/>
          </a:p>
        </p:txBody>
      </p:sp>
      <p:sp>
        <p:nvSpPr>
          <p:cNvPr id="6" name="guiList">
            <a:extLst>
              <a:ext uri="{FF2B5EF4-FFF2-40B4-BE49-F238E27FC236}">
                <a16:creationId xmlns:a16="http://schemas.microsoft.com/office/drawing/2014/main" id="{3BB5B930-F7A6-41E1-B354-FFFF69E552E4}"/>
              </a:ext>
            </a:extLst>
          </p:cNvPr>
          <p:cNvSpPr txBox="1"/>
          <p:nvPr/>
        </p:nvSpPr>
        <p:spPr>
          <a:xfrm>
            <a:off x="685800" y="218694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topology: add or remove routers and links, set costs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messages moving between routers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routing tables and convergence status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pause, reset, step, speed control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and message log</a:t>
            </a:r>
            <a:endParaRPr lang="en-US" sz="1200" dirty="0"/>
          </a:p>
        </p:txBody>
      </p:sp>
      <p:sp>
        <p:nvSpPr>
          <p:cNvPr id="7" name="coreCard">
            <a:extLst>
              <a:ext uri="{FF2B5EF4-FFF2-40B4-BE49-F238E27FC236}">
                <a16:creationId xmlns:a16="http://schemas.microsoft.com/office/drawing/2014/main" id="{8559FBF0-630A-4E15-B906-96B2A77D86D9}"/>
              </a:ext>
            </a:extLst>
          </p:cNvPr>
          <p:cNvSpPr/>
          <p:nvPr/>
        </p:nvSpPr>
        <p:spPr>
          <a:xfrm>
            <a:off x="5486400" y="1684020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123847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8" name="coreHead">
            <a:extLst>
              <a:ext uri="{FF2B5EF4-FFF2-40B4-BE49-F238E27FC236}">
                <a16:creationId xmlns:a16="http://schemas.microsoft.com/office/drawing/2014/main" id="{CC4F1125-61BA-445A-9B1B-F708FB68FC16}"/>
              </a:ext>
            </a:extLst>
          </p:cNvPr>
          <p:cNvSpPr txBox="1"/>
          <p:nvPr/>
        </p:nvSpPr>
        <p:spPr>
          <a:xfrm>
            <a:off x="5715000" y="18211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Core Engine</a:t>
            </a:r>
            <a:endParaRPr lang="en-US" sz="1700" dirty="0"/>
          </a:p>
        </p:txBody>
      </p:sp>
      <p:sp>
        <p:nvSpPr>
          <p:cNvPr id="9" name="coreList">
            <a:extLst>
              <a:ext uri="{FF2B5EF4-FFF2-40B4-BE49-F238E27FC236}">
                <a16:creationId xmlns:a16="http://schemas.microsoft.com/office/drawing/2014/main" id="{19FF1208-52C2-40A1-85E4-2DE949E25896}"/>
              </a:ext>
            </a:extLst>
          </p:cNvPr>
          <p:cNvSpPr txBox="1"/>
          <p:nvPr/>
        </p:nvSpPr>
        <p:spPr>
          <a:xfrm>
            <a:off x="5715000" y="218694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Vector with Bellman-Ford updates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Horizon, Poison Reverse, Hold-Down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State with Dijkstra’s algorithm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Discrete-event queue, periodic and triggered updates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and loop detection</a:t>
            </a:r>
            <a:endParaRPr lang="en-US" sz="1200" dirty="0"/>
          </a:p>
        </p:txBody>
      </p:sp>
      <p:sp>
        <p:nvSpPr>
          <p:cNvPr id="10" name="arrow1">
            <a:extLst>
              <a:ext uri="{FF2B5EF4-FFF2-40B4-BE49-F238E27FC236}">
                <a16:creationId xmlns:a16="http://schemas.microsoft.com/office/drawing/2014/main" id="{4F8507F0-A9FE-4EBE-979D-458D8BC906A2}"/>
              </a:ext>
            </a:extLst>
          </p:cNvPr>
          <p:cNvSpPr/>
          <p:nvPr/>
        </p:nvSpPr>
        <p:spPr>
          <a:xfrm>
            <a:off x="3840480" y="2598420"/>
            <a:ext cx="1463040" cy="0"/>
          </a:xfrm>
          <a:prstGeom prst="line">
            <a:avLst/>
          </a:prstGeom>
          <a:noFill/>
          <a:ln w="25400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1" name="arrow2">
            <a:extLst>
              <a:ext uri="{FF2B5EF4-FFF2-40B4-BE49-F238E27FC236}">
                <a16:creationId xmlns:a16="http://schemas.microsoft.com/office/drawing/2014/main" id="{F54FB375-26B4-43EC-8CA0-6052166A9C72}"/>
              </a:ext>
            </a:extLst>
          </p:cNvPr>
          <p:cNvSpPr/>
          <p:nvPr/>
        </p:nvSpPr>
        <p:spPr>
          <a:xfrm>
            <a:off x="3840480" y="3558540"/>
            <a:ext cx="1463040" cy="0"/>
          </a:xfrm>
          <a:prstGeom prst="line">
            <a:avLst/>
          </a:prstGeom>
          <a:noFill/>
          <a:ln w="25400">
            <a:solidFill>
              <a:srgbClr val="3DDC97"/>
            </a:solidFill>
            <a:prstDash val="solid"/>
            <a:headEnd type="triangle"/>
          </a:ln>
        </p:spPr>
      </p:sp>
      <p:sp>
        <p:nvSpPr>
          <p:cNvPr id="12" name="lbl1">
            <a:extLst>
              <a:ext uri="{FF2B5EF4-FFF2-40B4-BE49-F238E27FC236}">
                <a16:creationId xmlns:a16="http://schemas.microsoft.com/office/drawing/2014/main" id="{317CB82D-0402-45C3-9D79-A3D75E531556}"/>
              </a:ext>
            </a:extLst>
          </p:cNvPr>
          <p:cNvSpPr txBox="1"/>
          <p:nvPr/>
        </p:nvSpPr>
        <p:spPr>
          <a:xfrm>
            <a:off x="3840480" y="23058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lbl2">
            <a:extLst>
              <a:ext uri="{FF2B5EF4-FFF2-40B4-BE49-F238E27FC236}">
                <a16:creationId xmlns:a16="http://schemas.microsoft.com/office/drawing/2014/main" id="{90378312-CF82-40AA-A911-BEB0EBB8E564}"/>
              </a:ext>
            </a:extLst>
          </p:cNvPr>
          <p:cNvSpPr txBox="1"/>
          <p:nvPr/>
        </p:nvSpPr>
        <p:spPr>
          <a:xfrm>
            <a:off x="3840480" y="36499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events</a:t>
            </a: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ipc">
            <a:extLst>
              <a:ext uri="{FF2B5EF4-FFF2-40B4-BE49-F238E27FC236}">
                <a16:creationId xmlns:a16="http://schemas.microsoft.com/office/drawing/2014/main" id="{B3C01CCA-73F7-4830-86AE-5B363B56AA09}"/>
              </a:ext>
            </a:extLst>
          </p:cNvPr>
          <p:cNvSpPr txBox="1"/>
          <p:nvPr/>
        </p:nvSpPr>
        <p:spPr>
          <a:xfrm>
            <a:off x="3977640" y="2936748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0B2530"/>
          </a:solidFill>
          <a:ln w="15875">
            <a:solidFill>
              <a:srgbClr val="3DDC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IPC</a:t>
            </a:r>
            <a:endParaRPr lang="en-US" sz="1100" dirty="0"/>
          </a:p>
        </p:txBody>
      </p:sp>
      <p:sp>
        <p:nvSpPr>
          <p:cNvPr id="15" name="pkR">
            <a:extLst>
              <a:ext uri="{FF2B5EF4-FFF2-40B4-BE49-F238E27FC236}">
                <a16:creationId xmlns:a16="http://schemas.microsoft.com/office/drawing/2014/main" id="{378AD850-86E4-4956-9EA9-C62F4BA94478}"/>
              </a:ext>
            </a:extLst>
          </p:cNvPr>
          <p:cNvSpPr/>
          <p:nvPr/>
        </p:nvSpPr>
        <p:spPr>
          <a:xfrm>
            <a:off x="3758184" y="2516124"/>
            <a:ext cx="164592" cy="16459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pkL">
            <a:extLst>
              <a:ext uri="{FF2B5EF4-FFF2-40B4-BE49-F238E27FC236}">
                <a16:creationId xmlns:a16="http://schemas.microsoft.com/office/drawing/2014/main" id="{0F1A07EB-EA91-4CFC-973D-5561F1B60562}"/>
              </a:ext>
            </a:extLst>
          </p:cNvPr>
          <p:cNvSpPr/>
          <p:nvPr/>
        </p:nvSpPr>
        <p:spPr>
          <a:xfrm>
            <a:off x="5221224" y="3476244"/>
            <a:ext cx="164592" cy="164592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099889F-6BA7-463B-AD4B-87214E9D4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371" y="73046"/>
            <a:ext cx="6395258" cy="8169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60EF7D2-4587-43A6-9F2C-A44CD35CFDC8}"/>
              </a:ext>
            </a:extLst>
          </p:cNvPr>
          <p:cNvSpPr txBox="1"/>
          <p:nvPr/>
        </p:nvSpPr>
        <p:spPr>
          <a:xfrm>
            <a:off x="8686800" y="1492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5597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4.72222E-6 3.08642E-6 L 0.16006 3.08642E-6 " pathEditMode="relative" rAng="0" ptsTypes="AA">
                                      <p:cBhvr>
                                        <p:cTn id="41" dur="1500" repeatCount="indefinite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03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-4.72222E-6 3.33333E-6 L -0.16006 3.33333E-6 " pathEditMode="relative" rAng="0" ptsTypes="AA">
                                      <p:cBhvr>
                                        <p:cTn id="45" dur="1500" repeatCount="indefinite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0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72783" y="221203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F9E844A-866F-422B-A146-2DB27C19C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232" y="3048890"/>
            <a:ext cx="2633698" cy="168873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8F30615-E934-451E-AA9B-3C2E3A768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150" y="3069477"/>
            <a:ext cx="2633700" cy="168873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76A1730-9D21-4B4E-BCB9-36A70A41B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83" y="3048889"/>
            <a:ext cx="2633700" cy="168873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7E3F303-AB90-40CB-A50D-8F2E5F3163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97" y="854422"/>
            <a:ext cx="3672840" cy="223564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18D5BAA-51DE-4A69-B808-7073EF37A8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299" y="862729"/>
            <a:ext cx="3676204" cy="223332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E9D8D50-91E9-4928-A627-31E45B7D5A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7956" y="109915"/>
            <a:ext cx="5224725" cy="8169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4890D9-89DB-4374-BD29-20ABAA0C6CFC}"/>
              </a:ext>
            </a:extLst>
          </p:cNvPr>
          <p:cNvSpPr txBox="1"/>
          <p:nvPr/>
        </p:nvSpPr>
        <p:spPr>
          <a:xfrm>
            <a:off x="8702383" y="1214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408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 &amp; Technology</a:t>
            </a:r>
            <a:endParaRPr lang="en-US" sz="3000" dirty="0"/>
          </a:p>
        </p:txBody>
      </p:sp>
      <p:sp>
        <p:nvSpPr>
          <p:cNvPr id="3" name="sub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for, and what it is built with.</a:t>
            </a:r>
            <a:endParaRPr lang="en-US" sz="1350" dirty="0"/>
          </a:p>
        </p:txBody>
      </p:sp>
      <p:sp>
        <p:nvSpPr>
          <p:cNvPr id="4" name="userCard"/>
          <p:cNvSpPr/>
          <p:nvPr/>
        </p:nvSpPr>
        <p:spPr>
          <a:xfrm>
            <a:off x="457200" y="141732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userLbl"/>
          <p:cNvSpPr txBox="1"/>
          <p:nvPr/>
        </p:nvSpPr>
        <p:spPr>
          <a:xfrm>
            <a:off x="685800" y="1572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6" name="uIcon0"/>
          <p:cNvSpPr txBox="1"/>
          <p:nvPr/>
        </p:nvSpPr>
        <p:spPr>
          <a:xfrm>
            <a:off x="685800" y="1984248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uT0"/>
          <p:cNvSpPr txBox="1"/>
          <p:nvPr/>
        </p:nvSpPr>
        <p:spPr>
          <a:xfrm>
            <a:off x="1143000" y="1965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students</a:t>
            </a:r>
            <a:endParaRPr lang="en-US" sz="13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4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how routing protocols actually behave, not just their formulas</a:t>
            </a:r>
            <a:endParaRPr lang="en-US" sz="1350" dirty="0"/>
          </a:p>
        </p:txBody>
      </p:sp>
      <p:sp>
        <p:nvSpPr>
          <p:cNvPr id="8" name="uIcon1"/>
          <p:cNvSpPr txBox="1"/>
          <p:nvPr/>
        </p:nvSpPr>
        <p:spPr>
          <a:xfrm>
            <a:off x="685800" y="2825496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uT1"/>
          <p:cNvSpPr txBox="1"/>
          <p:nvPr/>
        </p:nvSpPr>
        <p:spPr>
          <a:xfrm>
            <a:off x="1143000" y="28072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instructors</a:t>
            </a:r>
            <a:endParaRPr lang="en-US" sz="13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4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Distance Vector vs Link State live in class</a:t>
            </a:r>
            <a:endParaRPr lang="en-US" sz="1350" dirty="0"/>
          </a:p>
        </p:txBody>
      </p:sp>
      <p:sp>
        <p:nvSpPr>
          <p:cNvPr id="10" name="uIcon2"/>
          <p:cNvSpPr txBox="1"/>
          <p:nvPr/>
        </p:nvSpPr>
        <p:spPr>
          <a:xfrm>
            <a:off x="685800" y="3666744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uT2"/>
          <p:cNvSpPr txBox="1"/>
          <p:nvPr/>
        </p:nvSpPr>
        <p:spPr>
          <a:xfrm>
            <a:off x="1143000" y="364845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Self-learners</a:t>
            </a:r>
            <a:endParaRPr lang="en-US" sz="13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4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RIP, Bellman-Ford, or Dijkstra hands-on</a:t>
            </a:r>
            <a:endParaRPr lang="en-US" sz="1350" dirty="0"/>
          </a:p>
        </p:txBody>
      </p:sp>
      <p:sp>
        <p:nvSpPr>
          <p:cNvPr id="12" name="techCard"/>
          <p:cNvSpPr/>
          <p:nvPr/>
        </p:nvSpPr>
        <p:spPr>
          <a:xfrm>
            <a:off x="4686300" y="1417320"/>
            <a:ext cx="4069080" cy="3200400"/>
          </a:xfrm>
          <a:prstGeom prst="roundRect">
            <a:avLst>
              <a:gd name="adj" fmla="val 3429"/>
            </a:avLst>
          </a:prstGeom>
          <a:solidFill>
            <a:srgbClr val="0B2530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chLbl"/>
          <p:cNvSpPr txBox="1"/>
          <p:nvPr/>
        </p:nvSpPr>
        <p:spPr>
          <a:xfrm>
            <a:off x="4983480" y="1572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TOOLS</a:t>
            </a:r>
            <a:endParaRPr lang="en-US" sz="1100" dirty="0"/>
          </a:p>
        </p:txBody>
      </p:sp>
      <p:sp>
        <p:nvSpPr>
          <p:cNvPr id="15" name="tT0"/>
          <p:cNvSpPr txBox="1"/>
          <p:nvPr/>
        </p:nvSpPr>
        <p:spPr>
          <a:xfrm>
            <a:off x="4981986" y="2508343"/>
            <a:ext cx="1615141" cy="22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B9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simulation core</a:t>
            </a:r>
            <a:endParaRPr lang="en-US" sz="1300" dirty="0"/>
          </a:p>
        </p:txBody>
      </p:sp>
      <p:sp>
        <p:nvSpPr>
          <p:cNvPr id="17" name="tT1"/>
          <p:cNvSpPr txBox="1"/>
          <p:nvPr/>
        </p:nvSpPr>
        <p:spPr>
          <a:xfrm>
            <a:off x="6847541" y="2530882"/>
            <a:ext cx="1702099" cy="22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 </a:t>
            </a:r>
            <a:r>
              <a:rPr lang="en-US" sz="1150" dirty="0">
                <a:solidFill>
                  <a:srgbClr val="B9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interface</a:t>
            </a:r>
            <a:endParaRPr lang="en-US" sz="1300" dirty="0"/>
          </a:p>
        </p:txBody>
      </p:sp>
      <p:sp>
        <p:nvSpPr>
          <p:cNvPr id="19" name="tT2"/>
          <p:cNvSpPr txBox="1"/>
          <p:nvPr/>
        </p:nvSpPr>
        <p:spPr>
          <a:xfrm>
            <a:off x="4833277" y="3534265"/>
            <a:ext cx="17968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B9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↔ Java communication</a:t>
            </a:r>
            <a:endParaRPr lang="en-US" sz="1300" dirty="0"/>
          </a:p>
        </p:txBody>
      </p:sp>
      <p:sp>
        <p:nvSpPr>
          <p:cNvPr id="21" name="tT3"/>
          <p:cNvSpPr txBox="1"/>
          <p:nvPr/>
        </p:nvSpPr>
        <p:spPr>
          <a:xfrm>
            <a:off x="5295258" y="4311289"/>
            <a:ext cx="11067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G++ &amp; Java JDK </a:t>
            </a:r>
            <a:endParaRPr lang="en-US" sz="1300" dirty="0"/>
          </a:p>
        </p:txBody>
      </p:sp>
      <p:sp>
        <p:nvSpPr>
          <p:cNvPr id="23" name="tT4"/>
          <p:cNvSpPr txBox="1"/>
          <p:nvPr/>
        </p:nvSpPr>
        <p:spPr>
          <a:xfrm>
            <a:off x="7161344" y="3539704"/>
            <a:ext cx="1005541" cy="20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3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B949A27-E377-4808-9FD0-3B3A6D5E1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560" y="1966167"/>
            <a:ext cx="521311" cy="52131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CAA02D0-5691-4D32-857A-86E5DD95A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437" y="1886839"/>
            <a:ext cx="732719" cy="73271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1419D5D-6E33-48C1-A769-547BC0C428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6314" y="3018398"/>
            <a:ext cx="394492" cy="39449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73A8AF0-11F8-4DB6-842F-B1262FE750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1690" y="3036118"/>
            <a:ext cx="394492" cy="39449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531F93D-68BA-4905-87D1-05AE518A73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4046" y="2977078"/>
            <a:ext cx="786954" cy="47333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B4F9A9A-DCB4-4229-8AF2-E04C29B04D50}"/>
              </a:ext>
            </a:extLst>
          </p:cNvPr>
          <p:cNvSpPr txBox="1"/>
          <p:nvPr/>
        </p:nvSpPr>
        <p:spPr>
          <a:xfrm>
            <a:off x="5477775" y="3064349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/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415FBB8-AA79-4D7D-92A3-F23C27559F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9384" y="3874034"/>
            <a:ext cx="666242" cy="34700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3C36231-8352-4FFE-ABE1-C22B58F565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0144" y="3873945"/>
            <a:ext cx="386946" cy="38694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E19C17D-DC02-4FA2-9130-7B9A5E120E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8639" y="3771371"/>
            <a:ext cx="430691" cy="60881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A1E1F0E-8216-4F7F-94A7-5B6179E5358E}"/>
              </a:ext>
            </a:extLst>
          </p:cNvPr>
          <p:cNvSpPr txBox="1"/>
          <p:nvPr/>
        </p:nvSpPr>
        <p:spPr>
          <a:xfrm>
            <a:off x="7022429" y="4294529"/>
            <a:ext cx="1386465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Linux command 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94F668-5DD8-4C62-8469-5B7AA705B91C}"/>
              </a:ext>
            </a:extLst>
          </p:cNvPr>
          <p:cNvSpPr txBox="1"/>
          <p:nvPr/>
        </p:nvSpPr>
        <p:spPr>
          <a:xfrm>
            <a:off x="8755380" y="896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3" name="sub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B9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demonstrable simulator — not just a set of algorithms.</a:t>
            </a:r>
            <a:endParaRPr lang="en-US" sz="1350" dirty="0"/>
          </a:p>
        </p:txBody>
      </p:sp>
      <p:sp>
        <p:nvSpPr>
          <p:cNvPr id="4" name="oCard0"/>
          <p:cNvSpPr/>
          <p:nvPr/>
        </p:nvSpPr>
        <p:spPr>
          <a:xfrm>
            <a:off x="749674" y="2828663"/>
            <a:ext cx="2082800" cy="448056"/>
          </a:xfrm>
          <a:prstGeom prst="roundRect">
            <a:avLst>
              <a:gd name="adj" fmla="val 11765"/>
            </a:avLst>
          </a:prstGeom>
          <a:solidFill>
            <a:srgbClr val="12384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5" name="oT0"/>
          <p:cNvSpPr txBox="1"/>
          <p:nvPr/>
        </p:nvSpPr>
        <p:spPr>
          <a:xfrm>
            <a:off x="985931" y="2907103"/>
            <a:ext cx="1610285" cy="297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simulator</a:t>
            </a:r>
            <a:endParaRPr lang="en-US" sz="1400" dirty="0"/>
          </a:p>
        </p:txBody>
      </p:sp>
      <p:sp>
        <p:nvSpPr>
          <p:cNvPr id="6" name="oCard1"/>
          <p:cNvSpPr/>
          <p:nvPr/>
        </p:nvSpPr>
        <p:spPr>
          <a:xfrm>
            <a:off x="762598" y="4468606"/>
            <a:ext cx="2069876" cy="448056"/>
          </a:xfrm>
          <a:prstGeom prst="roundRect">
            <a:avLst>
              <a:gd name="adj" fmla="val 11765"/>
            </a:avLst>
          </a:prstGeom>
          <a:solidFill>
            <a:srgbClr val="12384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oT1"/>
          <p:cNvSpPr txBox="1"/>
          <p:nvPr/>
        </p:nvSpPr>
        <p:spPr>
          <a:xfrm>
            <a:off x="912532" y="4574806"/>
            <a:ext cx="1867124" cy="26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400" dirty="0"/>
          </a:p>
        </p:txBody>
      </p:sp>
      <p:sp>
        <p:nvSpPr>
          <p:cNvPr id="8" name="oCard2"/>
          <p:cNvSpPr/>
          <p:nvPr/>
        </p:nvSpPr>
        <p:spPr>
          <a:xfrm>
            <a:off x="3581102" y="2828663"/>
            <a:ext cx="2082800" cy="448056"/>
          </a:xfrm>
          <a:prstGeom prst="roundRect">
            <a:avLst>
              <a:gd name="adj" fmla="val 11765"/>
            </a:avLst>
          </a:prstGeom>
          <a:solidFill>
            <a:srgbClr val="12384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9" name="oT2"/>
          <p:cNvSpPr txBox="1"/>
          <p:nvPr/>
        </p:nvSpPr>
        <p:spPr>
          <a:xfrm>
            <a:off x="3805729" y="2926018"/>
            <a:ext cx="1717216" cy="304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 demonstration</a:t>
            </a:r>
            <a:endParaRPr lang="en-US" sz="1400" dirty="0"/>
          </a:p>
        </p:txBody>
      </p:sp>
      <p:sp>
        <p:nvSpPr>
          <p:cNvPr id="10" name="bonusLbl"/>
          <p:cNvSpPr txBox="1"/>
          <p:nvPr/>
        </p:nvSpPr>
        <p:spPr>
          <a:xfrm>
            <a:off x="6961548" y="2862787"/>
            <a:ext cx="1467612" cy="396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</a:t>
            </a:r>
          </a:p>
          <a:p>
            <a:pPr marL="0" indent="0" algn="ctr">
              <a:buNone/>
            </a:pPr>
            <a:r>
              <a:rPr lang="en-US" sz="105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050" dirty="0"/>
          </a:p>
        </p:txBody>
      </p:sp>
      <p:sp>
        <p:nvSpPr>
          <p:cNvPr id="12" name="thanks"/>
          <p:cNvSpPr txBox="1"/>
          <p:nvPr/>
        </p:nvSpPr>
        <p:spPr>
          <a:xfrm>
            <a:off x="6555590" y="4233672"/>
            <a:ext cx="16979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3" name="thanksSub"/>
          <p:cNvSpPr txBox="1"/>
          <p:nvPr/>
        </p:nvSpPr>
        <p:spPr>
          <a:xfrm>
            <a:off x="6555590" y="4686300"/>
            <a:ext cx="23493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9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are welcome.</a:t>
            </a:r>
            <a:endParaRPr lang="en-US" sz="1250" dirty="0"/>
          </a:p>
        </p:txBody>
      </p:sp>
      <p:sp>
        <p:nvSpPr>
          <p:cNvPr id="119" name="lk0">
            <a:extLst>
              <a:ext uri="{FF2B5EF4-FFF2-40B4-BE49-F238E27FC236}">
                <a16:creationId xmlns:a16="http://schemas.microsoft.com/office/drawing/2014/main" id="{7F5E610F-DC16-4753-A405-F51B553AA847}"/>
              </a:ext>
            </a:extLst>
          </p:cNvPr>
          <p:cNvSpPr/>
          <p:nvPr/>
        </p:nvSpPr>
        <p:spPr>
          <a:xfrm flipV="1">
            <a:off x="1011937" y="1367028"/>
            <a:ext cx="669244" cy="448056"/>
          </a:xfrm>
          <a:prstGeom prst="line">
            <a:avLst/>
          </a:prstGeom>
          <a:noFill/>
          <a:ln w="28575">
            <a:solidFill>
              <a:srgbClr val="3C6E80"/>
            </a:solidFill>
            <a:prstDash val="solid"/>
          </a:ln>
        </p:spPr>
      </p:sp>
      <p:sp>
        <p:nvSpPr>
          <p:cNvPr id="120" name="lk1">
            <a:extLst>
              <a:ext uri="{FF2B5EF4-FFF2-40B4-BE49-F238E27FC236}">
                <a16:creationId xmlns:a16="http://schemas.microsoft.com/office/drawing/2014/main" id="{018FE398-56A7-4A1A-85EE-914E0CDF2EC7}"/>
              </a:ext>
            </a:extLst>
          </p:cNvPr>
          <p:cNvSpPr/>
          <p:nvPr/>
        </p:nvSpPr>
        <p:spPr>
          <a:xfrm>
            <a:off x="1652260" y="1358257"/>
            <a:ext cx="733846" cy="407146"/>
          </a:xfrm>
          <a:prstGeom prst="line">
            <a:avLst/>
          </a:prstGeom>
          <a:noFill/>
          <a:ln w="28575">
            <a:solidFill>
              <a:srgbClr val="3C6E80"/>
            </a:solidFill>
            <a:prstDash val="solid"/>
          </a:ln>
        </p:spPr>
      </p:sp>
      <p:sp>
        <p:nvSpPr>
          <p:cNvPr id="121" name="lk2">
            <a:extLst>
              <a:ext uri="{FF2B5EF4-FFF2-40B4-BE49-F238E27FC236}">
                <a16:creationId xmlns:a16="http://schemas.microsoft.com/office/drawing/2014/main" id="{57BD8FAF-5548-42CA-9AF3-C9086BA1F48B}"/>
              </a:ext>
            </a:extLst>
          </p:cNvPr>
          <p:cNvSpPr/>
          <p:nvPr/>
        </p:nvSpPr>
        <p:spPr>
          <a:xfrm>
            <a:off x="935425" y="1845024"/>
            <a:ext cx="367446" cy="726726"/>
          </a:xfrm>
          <a:prstGeom prst="line">
            <a:avLst/>
          </a:prstGeom>
          <a:noFill/>
          <a:ln w="28575">
            <a:solidFill>
              <a:srgbClr val="3C6E80"/>
            </a:solidFill>
            <a:prstDash val="solid"/>
          </a:ln>
        </p:spPr>
      </p:sp>
      <p:sp>
        <p:nvSpPr>
          <p:cNvPr id="122" name="lk3">
            <a:extLst>
              <a:ext uri="{FF2B5EF4-FFF2-40B4-BE49-F238E27FC236}">
                <a16:creationId xmlns:a16="http://schemas.microsoft.com/office/drawing/2014/main" id="{B793F594-0D9A-40DE-99FA-6BB9DC9D365D}"/>
              </a:ext>
            </a:extLst>
          </p:cNvPr>
          <p:cNvSpPr/>
          <p:nvPr/>
        </p:nvSpPr>
        <p:spPr>
          <a:xfrm flipV="1">
            <a:off x="1328288" y="1452272"/>
            <a:ext cx="330798" cy="1119477"/>
          </a:xfrm>
          <a:prstGeom prst="line">
            <a:avLst/>
          </a:prstGeom>
          <a:noFill/>
          <a:ln w="28575">
            <a:solidFill>
              <a:srgbClr val="3C6E80"/>
            </a:solidFill>
            <a:prstDash val="solid"/>
          </a:ln>
        </p:spPr>
      </p:sp>
      <p:sp>
        <p:nvSpPr>
          <p:cNvPr id="123" name="lk4">
            <a:extLst>
              <a:ext uri="{FF2B5EF4-FFF2-40B4-BE49-F238E27FC236}">
                <a16:creationId xmlns:a16="http://schemas.microsoft.com/office/drawing/2014/main" id="{B2899BB2-9BE9-4ED9-9145-4C3D5EC956F2}"/>
              </a:ext>
            </a:extLst>
          </p:cNvPr>
          <p:cNvSpPr/>
          <p:nvPr/>
        </p:nvSpPr>
        <p:spPr>
          <a:xfrm flipV="1">
            <a:off x="1286374" y="2439685"/>
            <a:ext cx="922790" cy="139998"/>
          </a:xfrm>
          <a:prstGeom prst="line">
            <a:avLst/>
          </a:prstGeom>
          <a:noFill/>
          <a:ln w="28575">
            <a:solidFill>
              <a:srgbClr val="3C6E80"/>
            </a:solidFill>
            <a:prstDash val="solid"/>
          </a:ln>
        </p:spPr>
      </p:sp>
      <p:sp>
        <p:nvSpPr>
          <p:cNvPr id="124" name="lk5">
            <a:extLst>
              <a:ext uri="{FF2B5EF4-FFF2-40B4-BE49-F238E27FC236}">
                <a16:creationId xmlns:a16="http://schemas.microsoft.com/office/drawing/2014/main" id="{B9A2BEF9-5404-424A-89A5-BDDA3AC6A47C}"/>
              </a:ext>
            </a:extLst>
          </p:cNvPr>
          <p:cNvSpPr/>
          <p:nvPr/>
        </p:nvSpPr>
        <p:spPr>
          <a:xfrm flipV="1">
            <a:off x="2301033" y="1815083"/>
            <a:ext cx="94966" cy="589945"/>
          </a:xfrm>
          <a:prstGeom prst="line">
            <a:avLst/>
          </a:prstGeom>
          <a:noFill/>
          <a:ln w="28575">
            <a:solidFill>
              <a:srgbClr val="3C6E80"/>
            </a:solidFill>
            <a:prstDash val="solid"/>
          </a:ln>
        </p:spPr>
      </p:sp>
      <p:sp>
        <p:nvSpPr>
          <p:cNvPr id="125" name="cl0">
            <a:extLst>
              <a:ext uri="{FF2B5EF4-FFF2-40B4-BE49-F238E27FC236}">
                <a16:creationId xmlns:a16="http://schemas.microsoft.com/office/drawing/2014/main" id="{F9B3D193-F914-4FC6-AA69-4F21D5ED5CB2}"/>
              </a:ext>
            </a:extLst>
          </p:cNvPr>
          <p:cNvSpPr txBox="1"/>
          <p:nvPr/>
        </p:nvSpPr>
        <p:spPr>
          <a:xfrm>
            <a:off x="1150742" y="1488791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0B2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6" name="cl1">
            <a:extLst>
              <a:ext uri="{FF2B5EF4-FFF2-40B4-BE49-F238E27FC236}">
                <a16:creationId xmlns:a16="http://schemas.microsoft.com/office/drawing/2014/main" id="{DF670911-6C28-4972-9773-BA353FBE103C}"/>
              </a:ext>
            </a:extLst>
          </p:cNvPr>
          <p:cNvSpPr txBox="1"/>
          <p:nvPr/>
        </p:nvSpPr>
        <p:spPr>
          <a:xfrm>
            <a:off x="1893511" y="1449609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0B2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7" name="cl2">
            <a:extLst>
              <a:ext uri="{FF2B5EF4-FFF2-40B4-BE49-F238E27FC236}">
                <a16:creationId xmlns:a16="http://schemas.microsoft.com/office/drawing/2014/main" id="{329EC920-8AC7-4929-8932-60019FB9640A}"/>
              </a:ext>
            </a:extLst>
          </p:cNvPr>
          <p:cNvSpPr txBox="1"/>
          <p:nvPr/>
        </p:nvSpPr>
        <p:spPr>
          <a:xfrm>
            <a:off x="973355" y="2117269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0B2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8" name="cl3">
            <a:extLst>
              <a:ext uri="{FF2B5EF4-FFF2-40B4-BE49-F238E27FC236}">
                <a16:creationId xmlns:a16="http://schemas.microsoft.com/office/drawing/2014/main" id="{865C7E29-06D4-44CC-BFC4-B5AA7D127E2E}"/>
              </a:ext>
            </a:extLst>
          </p:cNvPr>
          <p:cNvSpPr txBox="1"/>
          <p:nvPr/>
        </p:nvSpPr>
        <p:spPr>
          <a:xfrm>
            <a:off x="1352659" y="1839220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0B2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29" name="cl4">
            <a:extLst>
              <a:ext uri="{FF2B5EF4-FFF2-40B4-BE49-F238E27FC236}">
                <a16:creationId xmlns:a16="http://schemas.microsoft.com/office/drawing/2014/main" id="{3E82CE0D-00D4-4EEB-BE1E-DFE37C4C5C49}"/>
              </a:ext>
            </a:extLst>
          </p:cNvPr>
          <p:cNvSpPr txBox="1"/>
          <p:nvPr/>
        </p:nvSpPr>
        <p:spPr>
          <a:xfrm>
            <a:off x="1666746" y="2348753"/>
            <a:ext cx="268897" cy="260738"/>
          </a:xfrm>
          <a:prstGeom prst="roundRect">
            <a:avLst>
              <a:gd name="adj" fmla="val 28571"/>
            </a:avLst>
          </a:prstGeom>
          <a:solidFill>
            <a:srgbClr val="0B2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0" name="cl5">
            <a:extLst>
              <a:ext uri="{FF2B5EF4-FFF2-40B4-BE49-F238E27FC236}">
                <a16:creationId xmlns:a16="http://schemas.microsoft.com/office/drawing/2014/main" id="{CDB32BE0-64DE-4CC2-A47D-57EB5EC2FAD4}"/>
              </a:ext>
            </a:extLst>
          </p:cNvPr>
          <p:cNvSpPr txBox="1"/>
          <p:nvPr/>
        </p:nvSpPr>
        <p:spPr>
          <a:xfrm>
            <a:off x="2193068" y="1956351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0B2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31" name="pk1">
            <a:extLst>
              <a:ext uri="{FF2B5EF4-FFF2-40B4-BE49-F238E27FC236}">
                <a16:creationId xmlns:a16="http://schemas.microsoft.com/office/drawing/2014/main" id="{E69060F7-B22A-4CA3-8B7C-A312F09A885E}"/>
              </a:ext>
            </a:extLst>
          </p:cNvPr>
          <p:cNvSpPr/>
          <p:nvPr/>
        </p:nvSpPr>
        <p:spPr>
          <a:xfrm>
            <a:off x="1223911" y="2481475"/>
            <a:ext cx="164592" cy="164592"/>
          </a:xfrm>
          <a:prstGeom prst="ellipse">
            <a:avLst/>
          </a:prstGeom>
          <a:solidFill>
            <a:srgbClr val="3DDC9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pk2">
            <a:extLst>
              <a:ext uri="{FF2B5EF4-FFF2-40B4-BE49-F238E27FC236}">
                <a16:creationId xmlns:a16="http://schemas.microsoft.com/office/drawing/2014/main" id="{C56ADA43-DCF6-4743-827B-5C909C443C38}"/>
              </a:ext>
            </a:extLst>
          </p:cNvPr>
          <p:cNvSpPr/>
          <p:nvPr/>
        </p:nvSpPr>
        <p:spPr>
          <a:xfrm>
            <a:off x="1581912" y="1303020"/>
            <a:ext cx="164592" cy="164592"/>
          </a:xfrm>
          <a:prstGeom prst="ellipse">
            <a:avLst/>
          </a:prstGeom>
          <a:solidFill>
            <a:srgbClr val="3DDC9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4" name="pk4">
            <a:extLst>
              <a:ext uri="{FF2B5EF4-FFF2-40B4-BE49-F238E27FC236}">
                <a16:creationId xmlns:a16="http://schemas.microsoft.com/office/drawing/2014/main" id="{9528887F-126F-4FE1-9B9B-502CF4DF3D5E}"/>
              </a:ext>
            </a:extLst>
          </p:cNvPr>
          <p:cNvSpPr/>
          <p:nvPr/>
        </p:nvSpPr>
        <p:spPr>
          <a:xfrm>
            <a:off x="912532" y="1764792"/>
            <a:ext cx="164592" cy="164592"/>
          </a:xfrm>
          <a:prstGeom prst="ellipse">
            <a:avLst/>
          </a:prstGeom>
          <a:solidFill>
            <a:srgbClr val="3DDC9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5" name="nA">
            <a:extLst>
              <a:ext uri="{FF2B5EF4-FFF2-40B4-BE49-F238E27FC236}">
                <a16:creationId xmlns:a16="http://schemas.microsoft.com/office/drawing/2014/main" id="{1B3F6829-B5AB-4F77-83EE-C4F52BF2B4B7}"/>
              </a:ext>
            </a:extLst>
          </p:cNvPr>
          <p:cNvSpPr txBox="1"/>
          <p:nvPr/>
        </p:nvSpPr>
        <p:spPr>
          <a:xfrm>
            <a:off x="880926" y="1718062"/>
            <a:ext cx="238222" cy="249174"/>
          </a:xfrm>
          <a:prstGeom prst="ellipse">
            <a:avLst/>
          </a:prstGeom>
          <a:solidFill>
            <a:srgbClr val="123847"/>
          </a:solidFill>
          <a:ln w="25400">
            <a:solidFill>
              <a:srgbClr val="3DDC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40" name="pk1">
            <a:extLst>
              <a:ext uri="{FF2B5EF4-FFF2-40B4-BE49-F238E27FC236}">
                <a16:creationId xmlns:a16="http://schemas.microsoft.com/office/drawing/2014/main" id="{0DCFBC88-5FF6-4864-92F4-8E3FAFE043BC}"/>
              </a:ext>
            </a:extLst>
          </p:cNvPr>
          <p:cNvSpPr/>
          <p:nvPr/>
        </p:nvSpPr>
        <p:spPr>
          <a:xfrm>
            <a:off x="1576790" y="1303020"/>
            <a:ext cx="164592" cy="164592"/>
          </a:xfrm>
          <a:prstGeom prst="ellipse">
            <a:avLst/>
          </a:prstGeom>
          <a:solidFill>
            <a:srgbClr val="3DDC9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2" name="nB">
            <a:extLst>
              <a:ext uri="{FF2B5EF4-FFF2-40B4-BE49-F238E27FC236}">
                <a16:creationId xmlns:a16="http://schemas.microsoft.com/office/drawing/2014/main" id="{C965592E-6347-43F0-872C-4AE051F6A812}"/>
              </a:ext>
            </a:extLst>
          </p:cNvPr>
          <p:cNvSpPr txBox="1"/>
          <p:nvPr/>
        </p:nvSpPr>
        <p:spPr>
          <a:xfrm>
            <a:off x="1553329" y="1267160"/>
            <a:ext cx="237744" cy="241330"/>
          </a:xfrm>
          <a:prstGeom prst="ellipse">
            <a:avLst/>
          </a:prstGeom>
          <a:solidFill>
            <a:srgbClr val="123847"/>
          </a:solidFill>
          <a:ln w="25400">
            <a:solidFill>
              <a:srgbClr val="3DDC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3" name="pk3">
            <a:extLst>
              <a:ext uri="{FF2B5EF4-FFF2-40B4-BE49-F238E27FC236}">
                <a16:creationId xmlns:a16="http://schemas.microsoft.com/office/drawing/2014/main" id="{72D60531-5F54-4B6F-9D50-BD3D69C17BDC}"/>
              </a:ext>
            </a:extLst>
          </p:cNvPr>
          <p:cNvSpPr/>
          <p:nvPr/>
        </p:nvSpPr>
        <p:spPr>
          <a:xfrm>
            <a:off x="1231571" y="2521816"/>
            <a:ext cx="164592" cy="164592"/>
          </a:xfrm>
          <a:prstGeom prst="ellipse">
            <a:avLst/>
          </a:prstGeom>
          <a:solidFill>
            <a:srgbClr val="3DDC9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nD">
            <a:extLst>
              <a:ext uri="{FF2B5EF4-FFF2-40B4-BE49-F238E27FC236}">
                <a16:creationId xmlns:a16="http://schemas.microsoft.com/office/drawing/2014/main" id="{B1E309B1-8B11-4787-81AF-BC54F1894E3F}"/>
              </a:ext>
            </a:extLst>
          </p:cNvPr>
          <p:cNvSpPr txBox="1"/>
          <p:nvPr/>
        </p:nvSpPr>
        <p:spPr>
          <a:xfrm>
            <a:off x="1192894" y="2487728"/>
            <a:ext cx="235273" cy="213718"/>
          </a:xfrm>
          <a:prstGeom prst="ellipse">
            <a:avLst/>
          </a:prstGeom>
          <a:solidFill>
            <a:srgbClr val="123847"/>
          </a:solidFill>
          <a:ln w="25400">
            <a:solidFill>
              <a:srgbClr val="3DDC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45" name="nE">
            <a:extLst>
              <a:ext uri="{FF2B5EF4-FFF2-40B4-BE49-F238E27FC236}">
                <a16:creationId xmlns:a16="http://schemas.microsoft.com/office/drawing/2014/main" id="{D51422D0-5CE3-46CC-8AE4-60CCD4E3A624}"/>
              </a:ext>
            </a:extLst>
          </p:cNvPr>
          <p:cNvSpPr txBox="1"/>
          <p:nvPr/>
        </p:nvSpPr>
        <p:spPr>
          <a:xfrm>
            <a:off x="2146330" y="2320779"/>
            <a:ext cx="235273" cy="213718"/>
          </a:xfrm>
          <a:prstGeom prst="ellipse">
            <a:avLst/>
          </a:prstGeom>
          <a:solidFill>
            <a:srgbClr val="123847"/>
          </a:solidFill>
          <a:ln w="25400">
            <a:solidFill>
              <a:srgbClr val="3DDC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146" name="nC">
            <a:extLst>
              <a:ext uri="{FF2B5EF4-FFF2-40B4-BE49-F238E27FC236}">
                <a16:creationId xmlns:a16="http://schemas.microsoft.com/office/drawing/2014/main" id="{35738BB4-B9F3-4482-A2A4-C4FB7969D614}"/>
              </a:ext>
            </a:extLst>
          </p:cNvPr>
          <p:cNvSpPr txBox="1"/>
          <p:nvPr/>
        </p:nvSpPr>
        <p:spPr>
          <a:xfrm>
            <a:off x="2248460" y="1667806"/>
            <a:ext cx="238222" cy="225610"/>
          </a:xfrm>
          <a:prstGeom prst="ellipse">
            <a:avLst/>
          </a:prstGeom>
          <a:solidFill>
            <a:srgbClr val="123847"/>
          </a:solidFill>
          <a:ln w="25400">
            <a:solidFill>
              <a:srgbClr val="3DDC9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36" name="pnX">
            <a:extLst>
              <a:ext uri="{FF2B5EF4-FFF2-40B4-BE49-F238E27FC236}">
                <a16:creationId xmlns:a16="http://schemas.microsoft.com/office/drawing/2014/main" id="{551EDF94-BDCF-4244-8D16-4AE820407E85}"/>
              </a:ext>
            </a:extLst>
          </p:cNvPr>
          <p:cNvSpPr txBox="1"/>
          <p:nvPr/>
        </p:nvSpPr>
        <p:spPr>
          <a:xfrm>
            <a:off x="2267109" y="1983819"/>
            <a:ext cx="172995" cy="183345"/>
          </a:xfrm>
          <a:prstGeom prst="ellipse">
            <a:avLst/>
          </a:prstGeom>
          <a:solidFill>
            <a:srgbClr val="D633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pic>
        <p:nvPicPr>
          <p:cNvPr id="18" name="Picture 17" descr="A logo with lightning bolt and text&#10;&#10;Description automatically generated with medium confidence">
            <a:extLst>
              <a:ext uri="{FF2B5EF4-FFF2-40B4-BE49-F238E27FC236}">
                <a16:creationId xmlns:a16="http://schemas.microsoft.com/office/drawing/2014/main" id="{58ECBC9A-F67A-4410-A668-C346387E0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926" y="3546899"/>
            <a:ext cx="1817093" cy="739111"/>
          </a:xfrm>
          <a:prstGeom prst="rect">
            <a:avLst/>
          </a:prstGeom>
        </p:spPr>
      </p:pic>
      <p:pic>
        <p:nvPicPr>
          <p:cNvPr id="20" name="Picture 19" descr="A screenshot of a computer&#10;&#10;Description automatically generated">
            <a:extLst>
              <a:ext uri="{FF2B5EF4-FFF2-40B4-BE49-F238E27FC236}">
                <a16:creationId xmlns:a16="http://schemas.microsoft.com/office/drawing/2014/main" id="{6E78A872-25BD-4E87-9BFE-4D6DB6A7C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3171" y="1467612"/>
            <a:ext cx="1925262" cy="10542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858E570-7264-4DA9-B940-029D908FB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1548" y="1361446"/>
            <a:ext cx="1467612" cy="14676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153DF1-7A6B-4D58-BFEF-E6D98487D69D}"/>
              </a:ext>
            </a:extLst>
          </p:cNvPr>
          <p:cNvSpPr txBox="1"/>
          <p:nvPr/>
        </p:nvSpPr>
        <p:spPr>
          <a:xfrm>
            <a:off x="8718085" y="88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0" presetClass="path" presetSubtype="0" accel="50000" decel="5000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-1.94444E-6 3.20988E-6 L 0.03906 -0.22932 " pathEditMode="relative" rAng="0" ptsTypes="AA">
                                      <p:cBhvr>
                                        <p:cTn id="82" dur="1800" repeatCount="indefinite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-1129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0" presetClass="path" presetSubtype="0" accel="50000" decel="5000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-4.44444E-6 4.19753E-6 L -0.07309 0.08981 " pathEditMode="relative" rAng="0" ptsTypes="AA">
                                      <p:cBhvr>
                                        <p:cTn id="86" dur="1800" repeatCount="indefinite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15" y="4444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accel="50000" decel="5000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animMotion origin="layout" path="M -4.16667E-6 -6.17284E-7 L 0.03403 0.13951 " pathEditMode="relative" rAng="0" ptsTypes="AA">
                                      <p:cBhvr>
                                        <p:cTn id="90" dur="1800" repeatCount="indefinite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9" y="7068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0" presetClass="path" presetSubtype="0" accel="50000" decel="5000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1.66667E-6 -1.60494E-6 L 0.07951 0.07747 " pathEditMode="relative" rAng="0" ptsTypes="AA">
                                      <p:cBhvr>
                                        <p:cTn id="94" dur="1800" repeatCount="indefinite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6" y="3858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4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4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0" presetClass="path" presetSubtype="0" accel="50000" decel="5000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3.61111E-6 -2.83951E-6 L 0.10816 -0.04166 " pathEditMode="relative" rAng="0" ptsTypes="AA">
                                      <p:cBhvr>
                                        <p:cTn id="103" dur="1800" repeatCount="indefinite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99" y="-209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4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4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4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4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4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4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872</Words>
  <Application>Microsoft Office PowerPoint</Application>
  <PresentationFormat>On-screen Show (16:9)</PresentationFormat>
  <Paragraphs>128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Distance Vector Routing Simulator</dc:title>
  <dc:subject>PptxGenJS Presentation</dc:subject>
  <dc:creator>Md. Tofazzol Alam Rahat</dc:creator>
  <cp:lastModifiedBy>tofazzol230@gmail.com</cp:lastModifiedBy>
  <cp:revision>13</cp:revision>
  <dcterms:created xsi:type="dcterms:W3CDTF">2026-09-22T03:51:57Z</dcterms:created>
  <dcterms:modified xsi:type="dcterms:W3CDTF">2026-09-23T17:24:14Z</dcterms:modified>
</cp:coreProperties>
</file>